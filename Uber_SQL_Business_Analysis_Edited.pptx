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Uber Booking &amp;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SQL Business Analysis — Questions, Queries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Driver Cancellation — Biggest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What percentage of all Uber bookings were cancelled by drivers?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SUM(CASE WHEN `Booking Status` = 'Cancelled by Driver' THEN 1 ELSE 0 END) AS driver_cancelled_bookings,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SUM(CASE WHEN `Booking Status` = 'Cancelled by Driver' THEN 1 ELSE 0 END) / COUNT(*), 2) AS driver_cancellation_percentage</a:t>
            </a:r>
          </a:p>
          <a:p>
            <a:pPr>
              <a:spcAft>
                <a:spcPts val="800"/>
              </a:spcAft>
              <a:defRPr sz="1600"/>
            </a:pPr>
            <a:r>
              <a:t>FROM uber;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27,000 driver cancellations | 150,000 total bookings | 18.00%</a:t>
            </a:r>
          </a:p>
          <a:p>
            <a:pPr>
              <a:spcAft>
                <a:spcPts val="800"/>
              </a:spcAft>
              <a:defRPr sz="1600"/>
            </a:pPr>
            <a:r>
              <a:t>Finding: Driver cancellations are a major source of lost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Overall Booking Completion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Out of all Uber bookings, how many were successfully completed?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     SUM(CASE WHEN `Booking Status` = 'Completed' THEN 1 ELSE 0 END) AS completed_bookings,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SUM(CASE WHEN `Booking Status` = 'Completed' THEN 1 ELSE 0 END) / COUNT(*), 2) AS completion_percentage</a:t>
            </a:r>
          </a:p>
          <a:p>
            <a:pPr>
              <a:spcAft>
                <a:spcPts val="800"/>
              </a:spcAft>
              <a:defRPr sz="1600"/>
            </a:pPr>
            <a:r>
              <a:t>FROM uber;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150,000 total | 93,000 completed | 62.00%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Total Completed-Ride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What is the total revenue generated from completed Uber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COUNT(*) AS total_completed_rides,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SUM(`Booking Value`) AS total_completed_booking_value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93,000 completed rides | ₹47,260,574 revenue</a:t>
            </a:r>
          </a:p>
          <a:p>
            <a:pPr>
              <a:spcAft>
                <a:spcPts val="800"/>
              </a:spcAft>
              <a:defRPr sz="1600"/>
            </a:pPr>
            <a:r>
              <a:t>≈ ₹47.26M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Vehicle With Highest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vehicle type generates the highest total revenue from completed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vehicle_revenue AS (</a:t>
            </a:r>
          </a:p>
          <a:p>
            <a:pPr>
              <a:spcAft>
                <a:spcPts val="800"/>
              </a:spcAft>
              <a:defRPr sz="1600"/>
            </a:pPr>
            <a:r>
              <a:t>  SELECT `Vehicle Type`, COUNT(*) AS completed_bookings,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 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`Vehicle Type`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`Vehicle Type`, completed_bookings,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revenue / SUM(revenue) OVER (), 2) AS revenue_contribution_percentage</a:t>
            </a:r>
          </a:p>
          <a:p>
            <a:pPr>
              <a:spcAft>
                <a:spcPts val="800"/>
              </a:spcAft>
              <a:defRPr sz="1600"/>
            </a:pPr>
            <a:r>
              <a:t>FROM vehicle_revenue</a:t>
            </a:r>
          </a:p>
          <a:p>
            <a:pPr>
              <a:spcAft>
                <a:spcPts val="800"/>
              </a:spcAft>
              <a:defRPr sz="1600"/>
            </a:pPr>
            <a:r>
              <a:t>ORDER BY revenue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Top Result: Auto | 23,155 rides | ₹11.73M | ≈24.82%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Second-Highest Revenue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vehicle type ranks second in completed-ride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vehicle_revenue AS (</a:t>
            </a:r>
          </a:p>
          <a:p>
            <a:pPr>
              <a:spcAft>
                <a:spcPts val="800"/>
              </a:spcAft>
              <a:defRPr sz="1600"/>
            </a:pPr>
            <a:r>
              <a:t>  SELECT `Vehicle Type`,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`Vehicle Type`</a:t>
            </a:r>
          </a:p>
          <a:p>
            <a:pPr>
              <a:spcAft>
                <a:spcPts val="800"/>
              </a:spcAft>
              <a:defRPr sz="1600"/>
            </a:pPr>
            <a:r>
              <a:t>),</a:t>
            </a:r>
          </a:p>
          <a:p>
            <a:pPr>
              <a:spcAft>
                <a:spcPts val="800"/>
              </a:spcAft>
              <a:defRPr sz="1600"/>
            </a:pPr>
            <a:r>
              <a:t>ranked_vehicles AS (</a:t>
            </a:r>
          </a:p>
          <a:p>
            <a:pPr>
              <a:spcAft>
                <a:spcPts val="800"/>
              </a:spcAft>
              <a:defRPr sz="1600"/>
            </a:pPr>
            <a:r>
              <a:t>  SELECT `Vehicle Type`, revenue,</a:t>
            </a:r>
          </a:p>
          <a:p>
            <a:pPr>
              <a:spcAft>
                <a:spcPts val="800"/>
              </a:spcAft>
              <a:defRPr sz="1600"/>
            </a:pPr>
            <a:r>
              <a:t>         RANK() OVER (ORDER BY revenue DESC) AS revenue_rank</a:t>
            </a:r>
          </a:p>
          <a:p>
            <a:pPr>
              <a:spcAft>
                <a:spcPts val="800"/>
              </a:spcAft>
              <a:defRPr sz="1600"/>
            </a:pPr>
            <a:r>
              <a:t>  FROM vehicle_revenue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* FROM ranked_vehicles WHERE revenue_rank = 2;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Go Mini | ₹9,411,418 | Rank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Highest Revenue per Kilometer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vehicle type generates the highest revenue per kilometre?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`Vehicle Type`,</a:t>
            </a:r>
          </a:p>
          <a:p>
            <a:pPr>
              <a:spcAft>
                <a:spcPts val="800"/>
              </a:spcAft>
              <a:defRPr sz="1600"/>
            </a:pPr>
            <a:r>
              <a:t>       SUM(`Booking Value`) AS total_revenue,</a:t>
            </a:r>
          </a:p>
          <a:p>
            <a:pPr>
              <a:spcAft>
                <a:spcPts val="800"/>
              </a:spcAft>
              <a:defRPr sz="1600"/>
            </a:pPr>
            <a:r>
              <a:t>       SUM(`Ride Distance`) AS total_distance,</a:t>
            </a:r>
          </a:p>
          <a:p>
            <a:pPr>
              <a:spcAft>
                <a:spcPts val="800"/>
              </a:spcAft>
              <a:defRPr sz="1600"/>
            </a:pPr>
            <a:r>
              <a:t>       ROUND(SUM(`Booking Value`) / NULLIF(SUM(`Ride Distance`), 0), 2) AS revenue_per_km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GROUP BY `Vehicle Type`</a:t>
            </a:r>
          </a:p>
          <a:p>
            <a:pPr>
              <a:spcAft>
                <a:spcPts val="800"/>
              </a:spcAft>
              <a:defRPr sz="1600"/>
            </a:pPr>
            <a:r>
              <a:t>ORDER BY revenue_per_km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Go Sedan | ≈₹19.71/km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Highest Average Booking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vehicle type has the highest average booking value?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`Vehicle Type`, COUNT(*) AS 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ROUND(AVG(`Booking Value`), 2) AS average_booking_value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GROUP BY `Vehicle Type`</a:t>
            </a:r>
          </a:p>
          <a:p>
            <a:pPr>
              <a:spcAft>
                <a:spcPts val="800"/>
              </a:spcAft>
              <a:defRPr sz="1600"/>
            </a:pPr>
            <a:r>
              <a:t>ORDER BY average_booking_value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Go Sedan | 16,676 rides | ≈₹512.03 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Most Popular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payment method is used for the highest number of completed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payment_data AS (</a:t>
            </a:r>
          </a:p>
          <a:p>
            <a:pPr>
              <a:spcAft>
                <a:spcPts val="800"/>
              </a:spcAft>
              <a:defRPr sz="1600"/>
            </a:pPr>
            <a:r>
              <a:t>  SELECT `Payment Method`, COUNT(*) AS completed_bookings,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 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`Payment Method`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`Payment Method`, completed_bookings,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completed_bookings / SUM(completed_bookings) OVER (), 2) AS booking_percentage</a:t>
            </a:r>
          </a:p>
          <a:p>
            <a:pPr>
              <a:spcAft>
                <a:spcPts val="800"/>
              </a:spcAft>
              <a:defRPr sz="1600"/>
            </a:pPr>
            <a:r>
              <a:t>FROM payment_data</a:t>
            </a:r>
          </a:p>
          <a:p>
            <a:pPr>
              <a:spcAft>
                <a:spcPts val="800"/>
              </a:spcAft>
              <a:defRPr sz="1600"/>
            </a:pPr>
            <a:r>
              <a:t>ORDER BY completed_bookings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UPI | 41,834 bookings | ≈45%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Second-Most Valuable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payment method generates the second-highest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payment_revenue AS (</a:t>
            </a:r>
          </a:p>
          <a:p>
            <a:pPr>
              <a:spcAft>
                <a:spcPts val="800"/>
              </a:spcAft>
              <a:defRPr sz="1600"/>
            </a:pPr>
            <a:r>
              <a:t>  SELECT `Payment Method`,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`Payment Method`</a:t>
            </a:r>
          </a:p>
          <a:p>
            <a:pPr>
              <a:spcAft>
                <a:spcPts val="800"/>
              </a:spcAft>
              <a:defRPr sz="1600"/>
            </a:pPr>
            <a:r>
              <a:t>),</a:t>
            </a:r>
          </a:p>
          <a:p>
            <a:pPr>
              <a:spcAft>
                <a:spcPts val="800"/>
              </a:spcAft>
              <a:defRPr sz="1600"/>
            </a:pPr>
            <a:r>
              <a:t>ranked_payment AS (</a:t>
            </a:r>
          </a:p>
          <a:p>
            <a:pPr>
              <a:spcAft>
                <a:spcPts val="800"/>
              </a:spcAft>
              <a:defRPr sz="1600"/>
            </a:pPr>
            <a:r>
              <a:t>  SELECT `Payment Method`, revenue,</a:t>
            </a:r>
          </a:p>
          <a:p>
            <a:pPr>
              <a:spcAft>
                <a:spcPts val="800"/>
              </a:spcAft>
              <a:defRPr sz="1600"/>
            </a:pPr>
            <a:r>
              <a:t>         RANK() OVER (ORDER BY revenue DESC) AS revenue_rank</a:t>
            </a:r>
          </a:p>
          <a:p>
            <a:pPr>
              <a:spcAft>
                <a:spcPts val="800"/>
              </a:spcAft>
              <a:defRPr sz="1600"/>
            </a:pPr>
            <a:r>
              <a:t>  FROM payment_revenue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`Payment Method`,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revenue / SUM(revenue) OVER (), 2) AS revenue_contribution_percentage,</a:t>
            </a:r>
          </a:p>
          <a:p>
            <a:pPr>
              <a:spcAft>
                <a:spcPts val="800"/>
              </a:spcAft>
              <a:defRPr sz="1600"/>
            </a:pPr>
            <a:r>
              <a:t>       revenue_rank</a:t>
            </a:r>
          </a:p>
          <a:p>
            <a:pPr>
              <a:spcAft>
                <a:spcPts val="800"/>
              </a:spcAft>
              <a:defRPr sz="1600"/>
            </a:pPr>
            <a:r>
              <a:t>FROM ranked_payment</a:t>
            </a:r>
          </a:p>
          <a:p>
            <a:pPr>
              <a:spcAft>
                <a:spcPts val="800"/>
              </a:spcAft>
              <a:defRPr sz="1600"/>
            </a:pPr>
            <a:r>
              <a:t>WHERE revenue_rank = 2;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Cash | ₹11,756,071 | ≈24.87% | Rank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Highest-Revenue Rider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rider/customer segment generates the highest total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Approach:</a:t>
            </a:r>
          </a:p>
          <a:p>
            <a:pPr>
              <a:spcAft>
                <a:spcPts val="800"/>
              </a:spcAft>
              <a:defRPr sz="1600"/>
            </a:pPr>
            <a:r>
              <a:t>1 completed ride → First-time</a:t>
            </a:r>
          </a:p>
          <a:p>
            <a:pPr>
              <a:spcAft>
                <a:spcPts val="800"/>
              </a:spcAft>
              <a:defRPr sz="1600"/>
            </a:pPr>
            <a:r>
              <a:t>2 rides → Return/2 rides</a:t>
            </a:r>
          </a:p>
          <a:p>
            <a:pPr>
              <a:spcAft>
                <a:spcPts val="800"/>
              </a:spcAft>
              <a:defRPr sz="1600"/>
            </a:pPr>
            <a:r>
              <a:t>3–5 rides → Regular</a:t>
            </a:r>
          </a:p>
          <a:p>
            <a:pPr>
              <a:spcAft>
                <a:spcPts val="800"/>
              </a:spcAft>
              <a:defRPr sz="1600"/>
            </a:pPr>
            <a:r>
              <a:t>6+ rides → Other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 uses CTEs to count completed rides per Customer ID, classify segments, aggregate revenue, and calculate revenue percentage.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First-time riders → ≈51.3% of completed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Value of Regular Riders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How much revenue is generated by regular riders?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customer_rides AS (</a:t>
            </a:r>
          </a:p>
          <a:p>
            <a:pPr>
              <a:spcAft>
                <a:spcPts val="800"/>
              </a:spcAft>
              <a:defRPr sz="1600"/>
            </a:pPr>
            <a:r>
              <a:t>  SELECT `Customer ID`, COUNT(*) AS 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 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`Customer ID`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COUNT(DISTINCT `Customer ID`) AS regular_rider_count,</a:t>
            </a:r>
          </a:p>
          <a:p>
            <a:pPr>
              <a:spcAft>
                <a:spcPts val="800"/>
              </a:spcAft>
              <a:defRPr sz="1600"/>
            </a:pPr>
            <a:r>
              <a:t>       SUM(completed_rides) AS 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SUM(revenue) AS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SUM(revenue) /</a:t>
            </a:r>
          </a:p>
          <a:p>
            <a:pPr>
              <a:spcAft>
                <a:spcPts val="800"/>
              </a:spcAft>
              <a:defRPr sz="1600"/>
            </a:pPr>
            <a:r>
              <a:t>         (SELECT SUM(`Booking Value`) FROM uber WHERE `Booking Status` = 'Completed'), 2)</a:t>
            </a:r>
          </a:p>
          <a:p>
            <a:pPr>
              <a:spcAft>
                <a:spcPts val="800"/>
              </a:spcAft>
              <a:defRPr sz="1600"/>
            </a:pPr>
            <a:r>
              <a:t>         AS revenue_percentage</a:t>
            </a:r>
          </a:p>
          <a:p>
            <a:pPr>
              <a:spcAft>
                <a:spcPts val="800"/>
              </a:spcAft>
              <a:defRPr sz="1600"/>
            </a:pPr>
            <a:r>
              <a:t>FROM customer_rides</a:t>
            </a:r>
          </a:p>
          <a:p>
            <a:pPr>
              <a:spcAft>
                <a:spcPts val="800"/>
              </a:spcAft>
              <a:defRPr sz="1600"/>
            </a:pPr>
            <a:r>
              <a:t>WHERE completed_rides BETWEEN 3 AND 5;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Regular (3–5 ride) customers → ≈36.6% of completed revenue.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Highest-Revenue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month generated the highest completed-ride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 uses monthly aggregation with MONTH/MONTHNAME and RANK() OVER (ORDER BY revenue DESC).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March | ₹4,174,900 | Rank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Lowest-Revenue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month generated the lowest completed-ride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 uses monthly aggregation with RANK() OVER (ORDER BY revenue ASC).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August | ₹3,867,753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13B. Why Was August the Weakest Month?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Why was August the weakest revenue month?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 compares August vehicle types using:</a:t>
            </a:r>
          </a:p>
          <a:p>
            <a:pPr>
              <a:spcAft>
                <a:spcPts val="800"/>
              </a:spcAft>
              <a:defRPr sz="1600"/>
            </a:pPr>
            <a:r>
              <a:t>• Completed bookings</a:t>
            </a:r>
          </a:p>
          <a:p>
            <a:pPr>
              <a:spcAft>
                <a:spcPts val="800"/>
              </a:spcAft>
              <a:defRPr sz="1600"/>
            </a:pPr>
            <a:r>
              <a:t>• Completed revenue</a:t>
            </a:r>
          </a:p>
          <a:p>
            <a:pPr>
              <a:spcAft>
                <a:spcPts val="800"/>
              </a:spcAft>
              <a:defRPr sz="1600"/>
            </a:pPr>
            <a:r>
              <a:t>• Driver cancellations</a:t>
            </a:r>
          </a:p>
          <a:p>
            <a:pPr>
              <a:spcAft>
                <a:spcPts val="800"/>
              </a:spcAft>
              <a:defRPr sz="1600"/>
            </a:pPr>
            <a:r>
              <a:t>• Customer cancellations</a:t>
            </a:r>
          </a:p>
          <a:p>
            <a:pPr>
              <a:spcAft>
                <a:spcPts val="800"/>
              </a:spcAft>
              <a:defRPr sz="1600"/>
            </a:pPr>
            <a:r>
              <a:t>• No-driver-found bookings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</a:t>
            </a:r>
          </a:p>
          <a:p>
            <a:pPr>
              <a:spcAft>
                <a:spcPts val="800"/>
              </a:spcAft>
              <a:defRPr sz="1600"/>
            </a:pPr>
            <a:r>
              <a:t>The supplied material contains the query but not its returned output. Run it against the uber table to identify the actual cause.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Peak Demand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hour has the highest number of completed Uber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hourly_data AS (</a:t>
            </a:r>
          </a:p>
          <a:p>
            <a:pPr>
              <a:spcAft>
                <a:spcPts val="800"/>
              </a:spcAft>
              <a:defRPr sz="1600"/>
            </a:pPr>
            <a:r>
              <a:t>  SELECT HOUR(`Time`) AS hour, COUNT(*) AS completed_bookings,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 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  GROUP BY HOUR(`Time`)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* FROM (</a:t>
            </a:r>
          </a:p>
          <a:p>
            <a:pPr>
              <a:spcAft>
                <a:spcPts val="800"/>
              </a:spcAft>
              <a:defRPr sz="1600"/>
            </a:pPr>
            <a:r>
              <a:t>  SELECT *, RANK() OVER (ORDER BY completed_bookings DESC) AS demand_rank</a:t>
            </a:r>
          </a:p>
          <a:p>
            <a:pPr>
              <a:spcAft>
                <a:spcPts val="800"/>
              </a:spcAft>
              <a:defRPr sz="1600"/>
            </a:pPr>
            <a:r>
              <a:t>  FROM hourly_data</a:t>
            </a:r>
          </a:p>
          <a:p>
            <a:pPr>
              <a:spcAft>
                <a:spcPts val="800"/>
              </a:spcAft>
              <a:defRPr sz="1600"/>
            </a:pPr>
            <a:r>
              <a:t>) ranked_hours</a:t>
            </a:r>
          </a:p>
          <a:p>
            <a:pPr>
              <a:spcAft>
                <a:spcPts val="800"/>
              </a:spcAft>
              <a:defRPr sz="1600"/>
            </a:pPr>
            <a:r>
              <a:t>WHERE demand_rank = 1;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18:00 (6 PM) | 7,617 completed rides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14B. Top 5 Peak-Demand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What are the top 5 peak-demand hours?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HOUR(`Time`) AS hour,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completed_bookings,</a:t>
            </a:r>
          </a:p>
          <a:p>
            <a:pPr>
              <a:spcAft>
                <a:spcPts val="800"/>
              </a:spcAft>
              <a:defRPr sz="1600"/>
            </a:pPr>
            <a:r>
              <a:t>       SUM(`Booking Value`) AS revenue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GROUP BY HOUR(`Time`)</a:t>
            </a:r>
          </a:p>
          <a:p>
            <a:pPr>
              <a:spcAft>
                <a:spcPts val="800"/>
              </a:spcAft>
              <a:defRPr sz="1600"/>
            </a:pPr>
            <a:r>
              <a:t>ORDER BY completed_bookings DESC</a:t>
            </a:r>
          </a:p>
          <a:p>
            <a:pPr>
              <a:spcAft>
                <a:spcPts val="800"/>
              </a:spcAft>
              <a:defRPr sz="1600"/>
            </a:pPr>
            <a:r>
              <a:t>LIMIT 5;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</a:t>
            </a:r>
          </a:p>
          <a:p>
            <a:pPr>
              <a:spcAft>
                <a:spcPts val="800"/>
              </a:spcAft>
              <a:defRPr sz="1600"/>
            </a:pPr>
            <a:r>
              <a:t>The supplied material does not contain the five returned rows. Run the query to obtain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Highest-Revenue Drop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drop location generates the highest completed-ride revenue?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`Drop Location` AS drop_location,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SUM(`Booking Value`) AS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ROUND(AVG(`Booking Value`), 2) AS average_booking_value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GROUP BY `Drop Location`</a:t>
            </a:r>
          </a:p>
          <a:p>
            <a:pPr>
              <a:spcAft>
                <a:spcPts val="800"/>
              </a:spcAft>
              <a:defRPr sz="1600"/>
            </a:pPr>
            <a:r>
              <a:t>ORDER BY revenue DESC</a:t>
            </a:r>
          </a:p>
          <a:p>
            <a:pPr>
              <a:spcAft>
                <a:spcPts val="800"/>
              </a:spcAft>
              <a:defRPr sz="1600"/>
            </a:pPr>
            <a:r>
              <a:t>LIMIT 1;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Narsinghpur | ₹325,331 | ≈₹566.78 average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Highest-Volume Pickup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pickup location has the highest number of completed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`Pickup Location` AS pickup_location,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completed_rides,</a:t>
            </a:r>
          </a:p>
          <a:p>
            <a:pPr>
              <a:spcAft>
                <a:spcPts val="800"/>
              </a:spcAft>
              <a:defRPr sz="1600"/>
            </a:pPr>
            <a:r>
              <a:t>       SUM(`Booking Value`) AS revenue,</a:t>
            </a:r>
          </a:p>
          <a:p>
            <a:pPr>
              <a:spcAft>
                <a:spcPts val="800"/>
              </a:spcAft>
              <a:defRPr sz="1600"/>
            </a:pPr>
            <a:r>
              <a:t>       ROUND(AVG(`Booking Value`), 2) AS average_booking_value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WHERE `Booking Status` = 'Completed'</a:t>
            </a:r>
          </a:p>
          <a:p>
            <a:pPr>
              <a:spcAft>
                <a:spcPts val="800"/>
              </a:spcAft>
              <a:defRPr sz="1600"/>
            </a:pPr>
            <a:r>
              <a:t>GROUP BY `Pickup Location`</a:t>
            </a:r>
          </a:p>
          <a:p>
            <a:pPr>
              <a:spcAft>
                <a:spcPts val="800"/>
              </a:spcAft>
              <a:defRPr sz="1600"/>
            </a:pPr>
            <a:r>
              <a:t>ORDER BY completed_rides DESC</a:t>
            </a:r>
          </a:p>
          <a:p>
            <a:pPr>
              <a:spcAft>
                <a:spcPts val="800"/>
              </a:spcAft>
              <a:defRPr sz="1600"/>
            </a:pPr>
            <a:r>
              <a:t>LIMIT 1;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Barakhamba Road | 594 rides | ₹309,713 revenue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Customer vs Driver Cancellation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How do customer cancellations compare with driver cancellations?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</a:t>
            </a:r>
          </a:p>
          <a:p>
            <a:pPr>
              <a:spcAft>
                <a:spcPts val="800"/>
              </a:spcAft>
              <a:defRPr sz="1600"/>
            </a:pPr>
            <a:r>
              <a:t>  SUM(CASE WHEN `Booking Status` = 'Cancelled by Customer' THEN 1 ELSE 0 END) AS customer_cancellations,</a:t>
            </a:r>
          </a:p>
          <a:p>
            <a:pPr>
              <a:spcAft>
                <a:spcPts val="800"/>
              </a:spcAft>
              <a:defRPr sz="1600"/>
            </a:pPr>
            <a:r>
              <a:t>  SUM(CASE WHEN `Booking Status` = 'Cancelled by Driver' THEN 1 ELSE 0 END) AS driver_cancellations,</a:t>
            </a:r>
          </a:p>
          <a:p>
            <a:pPr>
              <a:spcAft>
                <a:spcPts val="800"/>
              </a:spcAft>
              <a:defRPr sz="1600"/>
            </a:pPr>
            <a:r>
              <a:t>  ROUND(100.0 * SUM(CASE WHEN `Booking Status` = 'Cancelled by Customer' THEN 1 ELSE 0 END) / COUNT(*), 2) AS customer_cancellation_percentage,</a:t>
            </a:r>
          </a:p>
          <a:p>
            <a:pPr>
              <a:spcAft>
                <a:spcPts val="800"/>
              </a:spcAft>
              <a:defRPr sz="1600"/>
            </a:pPr>
            <a:r>
              <a:t>  ROUND(100.0 * SUM(CASE WHEN `Booking Status` = 'Cancelled by Driver' THEN 1 ELSE 0 END) / COUNT(*), 2) AS driver_cancellation_percentage</a:t>
            </a:r>
          </a:p>
          <a:p>
            <a:pPr>
              <a:spcAft>
                <a:spcPts val="800"/>
              </a:spcAft>
              <a:defRPr sz="1600"/>
            </a:pPr>
            <a:r>
              <a:t>FROM uber;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Customer = 10,500 (7%) | Driver = 27,000 (18%)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No Driver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How many bookings were lost because no driver was found?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</a:t>
            </a:r>
          </a:p>
          <a:p>
            <a:pPr>
              <a:spcAft>
                <a:spcPts val="800"/>
              </a:spcAft>
              <a:defRPr sz="1600"/>
            </a:pPr>
            <a:r>
              <a:t>  SUM(CASE WHEN `Booking Status` = 'No Driver Found' THEN 1 ELSE 0 END) AS no_driver_found_bookings,</a:t>
            </a:r>
          </a:p>
          <a:p>
            <a:pPr>
              <a:spcAft>
                <a:spcPts val="800"/>
              </a:spcAft>
              <a:defRPr sz="1600"/>
            </a:pPr>
            <a:r>
              <a:t> 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ROUND(100.0 * SUM(CASE WHEN `Booking Status` = 'No Driver Found' THEN 1 ELSE 0 END) / COUNT(*), 2) AS no_driver_found_percentage</a:t>
            </a:r>
          </a:p>
          <a:p>
            <a:pPr>
              <a:spcAft>
                <a:spcPts val="800"/>
              </a:spcAft>
              <a:defRPr sz="1600"/>
            </a:pPr>
            <a:r>
              <a:t>FROM uber;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10,500 | 150,000 | 7.00%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18B. No Driver Found by Vehicle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vehicle types have the highest No Driver Found rate?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`Vehicle Type` AS vehicle_type,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     SUM(CASE WHEN `Booking Status` = 'No Driver Found' THEN 1 ELSE 0 END) AS no_driver_found,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SUM(CASE WHEN `Booking Status` = 'No Driver Found' THEN 1 ELSE 0 END) / COUNT(*), 2) AS no_driver_found_rate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GROUP BY `Vehicle Type`</a:t>
            </a:r>
          </a:p>
          <a:p>
            <a:pPr>
              <a:spcAft>
                <a:spcPts val="800"/>
              </a:spcAft>
              <a:defRPr sz="1600"/>
            </a:pPr>
            <a:r>
              <a:t>ORDER BY no_driver_found_rate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</a:t>
            </a:r>
          </a:p>
          <a:p>
            <a:pPr>
              <a:spcAft>
                <a:spcPts val="800"/>
              </a:spcAft>
              <a:defRPr sz="1600"/>
            </a:pPr>
            <a:r>
              <a:t>The supplied material contains the query but not the returned vehicle-level results.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18C. No Driver Found by Pickup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Which pickup locations have the highest No Driver Found rate?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 `Pickup Location` AS pickup_location,</a:t>
            </a:r>
          </a:p>
          <a:p>
            <a:pPr>
              <a:spcAft>
                <a:spcPts val="800"/>
              </a:spcAft>
              <a:defRPr sz="1600"/>
            </a:pPr>
            <a:r>
              <a:t>      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     SUM(CASE WHEN `Booking Status` = 'No Driver Found' THEN 1 ELSE 0 END) AS no_driver_found,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SUM(CASE WHEN `Booking Status` = 'No Driver Found' THEN 1 ELSE 0 END) / COUNT(*), 2) AS no_driver_found_rate</a:t>
            </a:r>
          </a:p>
          <a:p>
            <a:pPr>
              <a:spcAft>
                <a:spcPts val="800"/>
              </a:spcAft>
              <a:defRPr sz="1600"/>
            </a:pPr>
            <a:r>
              <a:t>FROM uber</a:t>
            </a:r>
          </a:p>
          <a:p>
            <a:pPr>
              <a:spcAft>
                <a:spcPts val="800"/>
              </a:spcAft>
              <a:defRPr sz="1600"/>
            </a:pPr>
            <a:r>
              <a:t>GROUP BY `Pickup Location`</a:t>
            </a:r>
          </a:p>
          <a:p>
            <a:pPr>
              <a:spcAft>
                <a:spcPts val="800"/>
              </a:spcAft>
              <a:defRPr sz="1600"/>
            </a:pPr>
            <a:r>
              <a:t>HAVING no_driver_found &gt; 0</a:t>
            </a:r>
          </a:p>
          <a:p>
            <a:pPr>
              <a:spcAft>
                <a:spcPts val="800"/>
              </a:spcAft>
              <a:defRPr sz="1600"/>
            </a:pPr>
            <a:r>
              <a:t>ORDER BY no_driver_found_rate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</a:t>
            </a:r>
          </a:p>
          <a:p>
            <a:pPr>
              <a:spcAft>
                <a:spcPts val="800"/>
              </a:spcAft>
              <a:defRPr sz="1600"/>
            </a:pPr>
            <a:r>
              <a:t>The supplied material does not contain the returned location-level results.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Incomplete Bookings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How many bookings were incomplete and what percentage of total bookings do they represent?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SELECT</a:t>
            </a:r>
          </a:p>
          <a:p>
            <a:pPr>
              <a:spcAft>
                <a:spcPts val="800"/>
              </a:spcAft>
              <a:defRPr sz="1600"/>
            </a:pPr>
            <a:r>
              <a:t>  SUM(CASE WHEN `Booking Status` = 'Incomplete' THEN 1 ELSE 0 END) AS incomplete_bookings,</a:t>
            </a:r>
          </a:p>
          <a:p>
            <a:pPr>
              <a:spcAft>
                <a:spcPts val="800"/>
              </a:spcAft>
              <a:defRPr sz="1600"/>
            </a:pPr>
            <a:r>
              <a:t>  COUNT(*) AS total_bookings,</a:t>
            </a:r>
          </a:p>
          <a:p>
            <a:pPr>
              <a:spcAft>
                <a:spcPts val="800"/>
              </a:spcAft>
              <a:defRPr sz="1600"/>
            </a:pPr>
            <a:r>
              <a:t>  ROUND(100.0 * SUM(CASE WHEN `Booking Status` = 'Incomplete' THEN 1 ELSE 0 END) / COUNT(*), 2) AS incomplete_percentage</a:t>
            </a:r>
          </a:p>
          <a:p>
            <a:pPr>
              <a:spcAft>
                <a:spcPts val="800"/>
              </a:spcAft>
              <a:defRPr sz="1600"/>
            </a:pPr>
            <a:r>
              <a:t>FROM uber;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9,000 | 150,000 | 6.00%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19B. Main Reasons for Incomplete Rides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Business Question:</a:t>
            </a:r>
          </a:p>
          <a:p>
            <a:pPr>
              <a:spcAft>
                <a:spcPts val="800"/>
              </a:spcAft>
              <a:defRPr sz="1600"/>
            </a:pPr>
            <a:r>
              <a:t>What are the main reasons for incomplete rides?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SQL:</a:t>
            </a:r>
          </a:p>
          <a:p>
            <a:pPr>
              <a:spcAft>
                <a:spcPts val="800"/>
              </a:spcAft>
              <a:defRPr sz="1600"/>
            </a:pPr>
            <a:r>
              <a:t>WITH incomplete_reasons AS (</a:t>
            </a:r>
          </a:p>
          <a:p>
            <a:pPr>
              <a:spcAft>
                <a:spcPts val="800"/>
              </a:spcAft>
              <a:defRPr sz="1600"/>
            </a:pPr>
            <a:r>
              <a:t>  SELECT `Incomplete Rides Reason` AS reason, COUNT(*) AS count</a:t>
            </a:r>
          </a:p>
          <a:p>
            <a:pPr>
              <a:spcAft>
                <a:spcPts val="800"/>
              </a:spcAft>
              <a:defRPr sz="1600"/>
            </a:pPr>
            <a:r>
              <a:t>  FROM uber</a:t>
            </a:r>
          </a:p>
          <a:p>
            <a:pPr>
              <a:spcAft>
                <a:spcPts val="800"/>
              </a:spcAft>
              <a:defRPr sz="1600"/>
            </a:pPr>
            <a:r>
              <a:t>  WHERE `Booking Status` = 'Incomplete'</a:t>
            </a:r>
          </a:p>
          <a:p>
            <a:pPr>
              <a:spcAft>
                <a:spcPts val="800"/>
              </a:spcAft>
              <a:defRPr sz="1600"/>
            </a:pPr>
            <a:r>
              <a:t>  GROUP BY `Incomplete Rides Reason`</a:t>
            </a:r>
          </a:p>
          <a:p>
            <a:pPr>
              <a:spcAft>
                <a:spcPts val="800"/>
              </a:spcAft>
              <a:defRPr sz="1600"/>
            </a:pPr>
            <a:r>
              <a:t>)</a:t>
            </a:r>
          </a:p>
          <a:p>
            <a:pPr>
              <a:spcAft>
                <a:spcPts val="800"/>
              </a:spcAft>
              <a:defRPr sz="1600"/>
            </a:pPr>
            <a:r>
              <a:t>SELECT reason, count,</a:t>
            </a:r>
          </a:p>
          <a:p>
            <a:pPr>
              <a:spcAft>
                <a:spcPts val="800"/>
              </a:spcAft>
              <a:defRPr sz="1600"/>
            </a:pPr>
            <a:r>
              <a:t>       ROUND(100.0 * count / SUM(count) OVER (), 2) AS reason_percentage</a:t>
            </a:r>
          </a:p>
          <a:p>
            <a:pPr>
              <a:spcAft>
                <a:spcPts val="800"/>
              </a:spcAft>
              <a:defRPr sz="1600"/>
            </a:pPr>
            <a:r>
              <a:t>FROM incomplete_reasons</a:t>
            </a:r>
          </a:p>
          <a:p>
            <a:pPr>
              <a:spcAft>
                <a:spcPts val="800"/>
              </a:spcAft>
              <a:defRPr sz="1600"/>
            </a:pPr>
            <a:r>
              <a:t>ORDER BY count DESC;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</a:t>
            </a:r>
          </a:p>
          <a:p>
            <a:pPr>
              <a:spcAft>
                <a:spcPts val="800"/>
              </a:spcAft>
              <a:defRPr sz="1600"/>
            </a:pPr>
            <a:r>
              <a:t>The supplied material contains the query but not the returned reason-level results.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18% of all bookings were cancelled by drivers.</a:t>
            </a:r>
          </a:p>
          <a:p>
            <a:pPr>
              <a:spcAft>
                <a:spcPts val="800"/>
              </a:spcAft>
              <a:defRPr sz="1600"/>
            </a:pPr>
            <a:r>
              <a:t>• Only 62% of bookings were successfully completed.</a:t>
            </a:r>
          </a:p>
          <a:p>
            <a:pPr>
              <a:spcAft>
                <a:spcPts val="800"/>
              </a:spcAft>
              <a:defRPr sz="1600"/>
            </a:pPr>
            <a:r>
              <a:t>• Completed rides generated ≈₹47.26M.</a:t>
            </a:r>
          </a:p>
          <a:p>
            <a:pPr>
              <a:spcAft>
                <a:spcPts val="800"/>
              </a:spcAft>
              <a:defRPr sz="1600"/>
            </a:pPr>
            <a:r>
              <a:t>• Auto was the highest-revenue vehicle at ≈₹11.73M.</a:t>
            </a:r>
          </a:p>
          <a:p>
            <a:pPr>
              <a:spcAft>
                <a:spcPts val="800"/>
              </a:spcAft>
              <a:defRPr sz="1600"/>
            </a:pPr>
            <a:r>
              <a:t>• Go Mini ranked second in vehicle revenue.</a:t>
            </a:r>
          </a:p>
          <a:p>
            <a:pPr>
              <a:spcAft>
                <a:spcPts val="800"/>
              </a:spcAft>
              <a:defRPr sz="1600"/>
            </a:pPr>
            <a:r>
              <a:t>• Go Sedan had the highest revenue/km and average booking value.</a:t>
            </a:r>
          </a:p>
          <a:p>
            <a:pPr>
              <a:spcAft>
                <a:spcPts val="800"/>
              </a:spcAft>
              <a:defRPr sz="1600"/>
            </a:pPr>
            <a:r>
              <a:t>• UPI was the most popular payment method.</a:t>
            </a:r>
          </a:p>
          <a:p>
            <a:pPr>
              <a:spcAft>
                <a:spcPts val="800"/>
              </a:spcAft>
              <a:defRPr sz="1600"/>
            </a:pPr>
            <a:r>
              <a:t>• First-time riders contributed ≈51.3% of completed revenue.</a:t>
            </a:r>
          </a:p>
          <a:p>
            <a:pPr>
              <a:spcAft>
                <a:spcPts val="800"/>
              </a:spcAft>
              <a:defRPr sz="1600"/>
            </a:pPr>
            <a:r>
              <a:t>• Regular 3–5 ride customers contributed ≈36.6%.</a:t>
            </a:r>
          </a:p>
          <a:p>
            <a:pPr>
              <a:spcAft>
                <a:spcPts val="800"/>
              </a:spcAft>
              <a:defRPr sz="1600"/>
            </a:pPr>
            <a:r>
              <a:t>• March was the strongest revenue month; August was the weakest.</a:t>
            </a:r>
          </a:p>
          <a:p>
            <a:pPr>
              <a:spcAft>
                <a:spcPts val="800"/>
              </a:spcAft>
              <a:defRPr sz="1600"/>
            </a:pPr>
            <a:r>
              <a:t>• 6 PM was the peak completed-ride hour.</a:t>
            </a:r>
          </a:p>
          <a:p>
            <a:pPr>
              <a:spcAft>
                <a:spcPts val="800"/>
              </a:spcAft>
              <a:defRPr sz="1600"/>
            </a:pPr>
            <a:r>
              <a:t>• Driver cancellations were much higher than customer cancellations.</a:t>
            </a:r>
          </a:p>
          <a:p>
            <a:pPr>
              <a:spcAft>
                <a:spcPts val="800"/>
              </a:spcAft>
              <a:defRPr sz="1600"/>
            </a:pPr>
            <a:r>
              <a:t>• 7% of bookings had no driver found.</a:t>
            </a:r>
          </a:p>
          <a:p>
            <a:pPr>
              <a:spcAft>
                <a:spcPts val="800"/>
              </a:spcAft>
              <a:defRPr sz="1600"/>
            </a:pPr>
            <a:r>
              <a:t>• 6% of bookings were incomplete.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 — Top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Based on the SQL analysis, the main business opportunities are:</a:t>
            </a:r>
          </a:p>
          <a:p>
            <a:pPr>
              <a:spcAft>
                <a:spcPts val="700"/>
              </a:spcAft>
              <a:defRPr sz="1600"/>
            </a:pPr>
            <a:r>
              <a:t>1. Reduce driver cancellations</a:t>
            </a:r>
          </a:p>
          <a:p>
            <a:pPr>
              <a:spcAft>
                <a:spcPts val="700"/>
              </a:spcAft>
              <a:defRPr sz="1600"/>
            </a:pPr>
            <a:r>
              <a:t>2. Attack “No Driver Found”</a:t>
            </a:r>
          </a:p>
          <a:p>
            <a:pPr>
              <a:spcAft>
                <a:spcPts val="700"/>
              </a:spcAft>
              <a:defRPr sz="1600"/>
            </a:pPr>
            <a:r>
              <a:t>3. Fix peak-hour supply</a:t>
            </a:r>
          </a:p>
          <a:p>
            <a:pPr>
              <a:spcAft>
                <a:spcPts val="700"/>
              </a:spcAft>
              <a:defRPr sz="1600"/>
            </a:pPr>
            <a:r>
              <a:t>4. Convert first-time riders into repeat riders</a:t>
            </a:r>
          </a:p>
          <a:p>
            <a:pPr>
              <a:spcAft>
                <a:spcPts val="700"/>
              </a:spcAft>
              <a:defRPr sz="1600"/>
            </a:pPr>
            <a:r>
              <a:t>5. Optimize vehicle mix</a:t>
            </a:r>
          </a:p>
          <a:p>
            <a:pPr>
              <a:spcAft>
                <a:spcPts val="700"/>
              </a:spcAft>
              <a:defRPr sz="1600"/>
            </a:pPr>
            <a:r>
              <a:t>6. Reduce customer cancellations and incomplete bookings</a:t>
            </a:r>
          </a:p>
          <a:p>
            <a:pPr>
              <a:spcAft>
                <a:spcPts val="700"/>
              </a:spcAft>
              <a:defRPr sz="1600"/>
            </a:pPr>
            <a:r>
              <a:t>7. Improve weak-location/month performance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Goal: convert SQL findings into measurable revenue and profit improvement.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Reduce Driver Cancellations — Priority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 27,000 driver cancellations = 18% of all bookings.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Cancellation reasons are closely distributed:</a:t>
            </a:r>
          </a:p>
          <a:p>
            <a:pPr>
              <a:spcAft>
                <a:spcPts val="700"/>
              </a:spcAft>
              <a:defRPr sz="1600"/>
            </a:pPr>
            <a:r>
              <a:t>• Customer-related issue — 6,837</a:t>
            </a:r>
          </a:p>
          <a:p>
            <a:pPr>
              <a:spcAft>
                <a:spcPts val="700"/>
              </a:spcAft>
              <a:defRPr sz="1600"/>
            </a:pPr>
            <a:r>
              <a:t>• Customer coughing/sick — 6,751</a:t>
            </a:r>
          </a:p>
          <a:p>
            <a:pPr>
              <a:spcAft>
                <a:spcPts val="700"/>
              </a:spcAft>
              <a:defRPr sz="1600"/>
            </a:pPr>
            <a:r>
              <a:t>• Personal/car-related issues — 6,726</a:t>
            </a:r>
          </a:p>
          <a:p>
            <a:pPr>
              <a:spcAft>
                <a:spcPts val="700"/>
              </a:spcAft>
              <a:defRPr sz="1600"/>
            </a:pPr>
            <a:r>
              <a:t>• Too many people — 6,686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Investigate vehicle + location + time + cancellation reason together.</a:t>
            </a:r>
          </a:p>
          <a:p>
            <a:pPr>
              <a:spcAft>
                <a:spcPts val="700"/>
              </a:spcAft>
              <a:defRPr sz="1600"/>
            </a:pPr>
            <a:r>
              <a:t>Use driver incentives, availability planning, vehicle maintenance, passenger-size information and cancellation monitoring.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Exact profit cannot be calculated from the supplied data because driver payout/cost per ride is not provided.</a:t>
            </a:r>
          </a:p>
          <a:p>
            <a:pPr>
              <a:spcAft>
                <a:spcPts val="700"/>
              </a:spcAft>
              <a:defRPr sz="1600"/>
            </a:pPr>
            <a:r>
              <a:t>A useful revenue opportunity is the value of recovered bookings:</a:t>
            </a:r>
          </a:p>
          <a:p>
            <a:pPr>
              <a:spcAft>
                <a:spcPts val="700"/>
              </a:spcAft>
              <a:defRPr sz="1600"/>
            </a:pPr>
            <a:r>
              <a:t>Recovered bookings × average completed booking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Attack “No Driver Found”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 10,500 bookings = 7% of all bookings were lost because no driver was found.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Identify the vehicle + pickup location + hour combinations with the highest no-driver volume/rate.</a:t>
            </a:r>
          </a:p>
          <a:p>
            <a:pPr>
              <a:spcAft>
                <a:spcPts val="700"/>
              </a:spcAft>
              <a:defRPr sz="1600"/>
            </a:pPr>
            <a:r>
              <a:t>Move or incentivize supply into those demand hotspots.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If recovered bookings become completed rides:</a:t>
            </a:r>
          </a:p>
          <a:p>
            <a:pPr>
              <a:spcAft>
                <a:spcPts val="700"/>
              </a:spcAft>
              <a:defRPr sz="1600"/>
            </a:pPr>
            <a:r>
              <a:t>Recovered bookings × average completed booking value.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This is a direct growth opportunity because the customer demand already exists.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Fix Peak-Hour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</a:t>
            </a:r>
          </a:p>
          <a:p>
            <a:pPr>
              <a:spcAft>
                <a:spcPts val="700"/>
              </a:spcAft>
              <a:defRPr sz="1600"/>
            </a:pPr>
            <a:r>
              <a:t>• 6 PM = 7,617 completed rides</a:t>
            </a:r>
          </a:p>
          <a:p>
            <a:pPr>
              <a:spcAft>
                <a:spcPts val="700"/>
              </a:spcAft>
              <a:defRPr sz="1600"/>
            </a:pPr>
            <a:r>
              <a:t>• Reported 6 PM driver-cancellation rate ≈18.2%</a:t>
            </a:r>
          </a:p>
          <a:p>
            <a:pPr>
              <a:spcAft>
                <a:spcPts val="700"/>
              </a:spcAft>
              <a:defRPr sz="1600"/>
            </a:pPr>
            <a:r>
              <a:t>• Reported 6 PM no-driver-found rate ≈7.2%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Create a peak-hour driver allocation strategy, especially around 5 PM–8 PM.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Additional completed rides × average booking value</a:t>
            </a:r>
          </a:p>
          <a:p>
            <a:pPr>
              <a:spcAft>
                <a:spcPts val="700"/>
              </a:spcAft>
              <a:defRPr sz="1600"/>
            </a:pPr>
            <a:r>
              <a:t>minus incremental driver incentives/operating costs.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Important: the supplied analysis does not provide those incremental costs, so exact profit cannot be stated.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Convert First-Time Riders into Repeat Riders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</a:t>
            </a:r>
          </a:p>
          <a:p>
            <a:pPr>
              <a:spcAft>
                <a:spcPts val="700"/>
              </a:spcAft>
              <a:defRPr sz="1600"/>
            </a:pPr>
            <a:r>
              <a:t>First-time riders contribute ≈51.3% of completed revenue.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Build a 1st ride → 2nd ride → 3rd ride conversion strategy:</a:t>
            </a:r>
          </a:p>
          <a:p>
            <a:pPr>
              <a:spcAft>
                <a:spcPts val="700"/>
              </a:spcAft>
              <a:defRPr sz="1600"/>
            </a:pPr>
            <a:r>
              <a:t>• Second-ride discount</a:t>
            </a:r>
          </a:p>
          <a:p>
            <a:pPr>
              <a:spcAft>
                <a:spcPts val="700"/>
              </a:spcAft>
              <a:defRPr sz="1600"/>
            </a:pPr>
            <a:r>
              <a:t>• Ride credits</a:t>
            </a:r>
          </a:p>
          <a:p>
            <a:pPr>
              <a:spcAft>
                <a:spcPts val="700"/>
              </a:spcAft>
              <a:defRPr sz="1600"/>
            </a:pPr>
            <a:r>
              <a:t>• UPI rewards</a:t>
            </a:r>
          </a:p>
          <a:p>
            <a:pPr>
              <a:spcAft>
                <a:spcPts val="700"/>
              </a:spcAft>
              <a:defRPr sz="1600"/>
            </a:pPr>
            <a:r>
              <a:t>• Loyalty points</a:t>
            </a:r>
          </a:p>
          <a:p>
            <a:pPr>
              <a:spcAft>
                <a:spcPts val="700"/>
              </a:spcAft>
              <a:defRPr sz="1600"/>
            </a:pPr>
            <a:r>
              <a:t>• Personalized offers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Incremental repeat rides × average booking value</a:t>
            </a:r>
          </a:p>
          <a:p>
            <a:pPr>
              <a:spcAft>
                <a:spcPts val="700"/>
              </a:spcAft>
              <a:defRPr sz="1600"/>
            </a:pPr>
            <a:r>
              <a:t>minus promotion/discount cost.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Strategic goal:</a:t>
            </a:r>
          </a:p>
          <a:p>
            <a:pPr>
              <a:spcAft>
                <a:spcPts val="700"/>
              </a:spcAft>
              <a:defRPr sz="1600"/>
            </a:pPr>
            <a:r>
              <a:t>Increase customer lifetime value instead of continuously relying on new customer acquisition.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Optimize Vehicle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</a:t>
            </a:r>
          </a:p>
          <a:p>
            <a:pPr>
              <a:spcAft>
                <a:spcPts val="700"/>
              </a:spcAft>
              <a:defRPr sz="1600"/>
            </a:pPr>
            <a:r>
              <a:t>• Auto = ≈₹11.73M total revenue</a:t>
            </a:r>
          </a:p>
          <a:p>
            <a:pPr>
              <a:spcAft>
                <a:spcPts val="700"/>
              </a:spcAft>
              <a:defRPr sz="1600"/>
            </a:pPr>
            <a:r>
              <a:t>• Go Sedan = ≈₹19.71/km revenue efficiency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Auto is the revenue/volume leader; Go Sedan is the efficiency leader.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Increase Go Sedan availability only where demand is strong and measure whether additional supply increases completed bookings and revenue.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Incremental Go Sedan completed rides × average Go Sedan booking value</a:t>
            </a:r>
          </a:p>
          <a:p>
            <a:pPr>
              <a:spcAft>
                <a:spcPts val="700"/>
              </a:spcAft>
              <a:defRPr sz="1600"/>
            </a:pPr>
            <a:r>
              <a:t>minus incremental driver/operating costs.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Do not shift all supply to Go Sedan without testing demand elasticity.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Reduce Other Booking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</a:t>
            </a:r>
          </a:p>
          <a:p>
            <a:pPr>
              <a:spcAft>
                <a:spcPts val="700"/>
              </a:spcAft>
              <a:defRPr sz="1600"/>
            </a:pPr>
            <a:r>
              <a:t>• Customer cancellations = 10,500 = 7%</a:t>
            </a:r>
          </a:p>
          <a:p>
            <a:pPr>
              <a:spcAft>
                <a:spcPts val="700"/>
              </a:spcAft>
              <a:defRPr sz="1600"/>
            </a:pPr>
            <a:r>
              <a:t>• No Driver Found = 10,500 = 7%</a:t>
            </a:r>
          </a:p>
          <a:p>
            <a:pPr>
              <a:spcAft>
                <a:spcPts val="700"/>
              </a:spcAft>
              <a:defRPr sz="1600"/>
            </a:pPr>
            <a:r>
              <a:t>• Incomplete bookings = 9,000 = 6%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Create a leakage dashboard and track these three categories by:</a:t>
            </a:r>
          </a:p>
          <a:p>
            <a:pPr>
              <a:spcAft>
                <a:spcPts val="700"/>
              </a:spcAft>
              <a:defRPr sz="1600"/>
            </a:pPr>
            <a:r>
              <a:t>• Location</a:t>
            </a:r>
          </a:p>
          <a:p>
            <a:pPr>
              <a:spcAft>
                <a:spcPts val="700"/>
              </a:spcAft>
              <a:defRPr sz="1600"/>
            </a:pPr>
            <a:r>
              <a:t>• Hour</a:t>
            </a:r>
          </a:p>
          <a:p>
            <a:pPr>
              <a:spcAft>
                <a:spcPts val="700"/>
              </a:spcAft>
              <a:defRPr sz="1600"/>
            </a:pPr>
            <a:r>
              <a:t>• Vehicle type</a:t>
            </a:r>
          </a:p>
          <a:p>
            <a:pPr>
              <a:spcAft>
                <a:spcPts val="700"/>
              </a:spcAft>
              <a:defRPr sz="1600"/>
            </a:pPr>
            <a:r>
              <a:t>• Cancellation/incomplete reason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Recovered bookings × average booking value</a:t>
            </a:r>
          </a:p>
          <a:p>
            <a:pPr>
              <a:spcAft>
                <a:spcPts val="700"/>
              </a:spcAft>
              <a:defRPr sz="1600"/>
            </a:pPr>
            <a:r>
              <a:t>minus recovery/incentive cost.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This creates a combined opportunity to improve the 62% overall completion rate.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Improve Weak Months &amp; 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Finding:</a:t>
            </a:r>
          </a:p>
          <a:p>
            <a:pPr>
              <a:spcAft>
                <a:spcPts val="700"/>
              </a:spcAft>
              <a:defRPr sz="1600"/>
            </a:pPr>
            <a:r>
              <a:t>• March = highest completed revenue ≈₹4.17M</a:t>
            </a:r>
          </a:p>
          <a:p>
            <a:pPr>
              <a:spcAft>
                <a:spcPts val="700"/>
              </a:spcAft>
              <a:defRPr sz="1600"/>
            </a:pPr>
            <a:r>
              <a:t>• August = lowest completed revenue ≈₹3.87M</a:t>
            </a:r>
          </a:p>
          <a:p>
            <a:pPr>
              <a:spcAft>
                <a:spcPts val="700"/>
              </a:spcAft>
              <a:defRPr sz="1600"/>
            </a:pPr>
            <a:r>
              <a:t>• Narsinghpur = highest-revenue drop location ≈₹325K</a:t>
            </a:r>
          </a:p>
          <a:p>
            <a:pPr>
              <a:spcAft>
                <a:spcPts val="700"/>
              </a:spcAft>
              <a:defRPr sz="1600"/>
            </a:pPr>
            <a:r>
              <a:t>• Barakhamba Road = highest-volume pickup location, 594 rides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Action:</a:t>
            </a:r>
          </a:p>
          <a:p>
            <a:pPr>
              <a:spcAft>
                <a:spcPts val="700"/>
              </a:spcAft>
              <a:defRPr sz="1600"/>
            </a:pPr>
            <a:r>
              <a:t>Compare weak months/locations against strong ones using:</a:t>
            </a:r>
          </a:p>
          <a:p>
            <a:pPr>
              <a:spcAft>
                <a:spcPts val="700"/>
              </a:spcAft>
              <a:defRPr sz="1600"/>
            </a:pPr>
            <a:r>
              <a:t>• Completed rides</a:t>
            </a:r>
          </a:p>
          <a:p>
            <a:pPr>
              <a:spcAft>
                <a:spcPts val="700"/>
              </a:spcAft>
              <a:defRPr sz="1600"/>
            </a:pPr>
            <a:r>
              <a:t>• Average booking value</a:t>
            </a:r>
          </a:p>
          <a:p>
            <a:pPr>
              <a:spcAft>
                <a:spcPts val="700"/>
              </a:spcAft>
              <a:defRPr sz="1600"/>
            </a:pPr>
            <a:r>
              <a:t>• Driver cancellations</a:t>
            </a:r>
          </a:p>
          <a:p>
            <a:pPr>
              <a:spcAft>
                <a:spcPts val="700"/>
              </a:spcAft>
              <a:defRPr sz="1600"/>
            </a:pPr>
            <a:r>
              <a:t>• Customer cancellations</a:t>
            </a:r>
          </a:p>
          <a:p>
            <a:pPr>
              <a:spcAft>
                <a:spcPts val="700"/>
              </a:spcAft>
              <a:defRPr sz="1600"/>
            </a:pPr>
            <a:r>
              <a:t>• No-driver-found bookings</a:t>
            </a:r>
          </a:p>
          <a:p>
            <a:pPr>
              <a:spcAft>
                <a:spcPts val="700"/>
              </a:spcAft>
              <a:defRPr sz="1600"/>
            </a:pPr>
            <a:r>
              <a:t>• Vehicle mix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Potential financial impact:</a:t>
            </a:r>
          </a:p>
          <a:p>
            <a:pPr>
              <a:spcAft>
                <a:spcPts val="700"/>
              </a:spcAft>
              <a:defRPr sz="1600"/>
            </a:pPr>
            <a:r>
              <a:t>Closing part of the gap between weak and strong periods/locations can create incremental revenue, but the supplied data does not provide enough cost information to calculate exact profit.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Profit Opportunity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The current dataset supports revenue-opportunity calculations, but NOT exact profit because driver payouts, incentives, fuel/maintenance costs and other operating costs are not supplied.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Use these formulas: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1. Recovered cancellation revenue</a:t>
            </a:r>
          </a:p>
          <a:p>
            <a:pPr>
              <a:spcAft>
                <a:spcPts val="700"/>
              </a:spcAft>
              <a:defRPr sz="1600"/>
            </a:pPr>
            <a:r>
              <a:t>Recovered driver-cancelled bookings × average completed booking value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2. Recovered no-driver revenue</a:t>
            </a:r>
          </a:p>
          <a:p>
            <a:pPr>
              <a:spcAft>
                <a:spcPts val="700"/>
              </a:spcAft>
              <a:defRPr sz="1600"/>
            </a:pPr>
            <a:r>
              <a:t>Recovered no-driver bookings × average completed booking value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3. Repeat-rider revenue</a:t>
            </a:r>
          </a:p>
          <a:p>
            <a:pPr>
              <a:spcAft>
                <a:spcPts val="700"/>
              </a:spcAft>
              <a:defRPr sz="1600"/>
            </a:pPr>
            <a:r>
              <a:t>Incremental repeat rides × average booking value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4. Peak-hour revenue</a:t>
            </a:r>
          </a:p>
          <a:p>
            <a:pPr>
              <a:spcAft>
                <a:spcPts val="700"/>
              </a:spcAft>
              <a:defRPr sz="1600"/>
            </a:pPr>
            <a:r>
              <a:t>Incremental completed rides × peak-hour average booking value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5. Vehicle optimization contribution</a:t>
            </a:r>
          </a:p>
          <a:p>
            <a:pPr>
              <a:spcAft>
                <a:spcPts val="700"/>
              </a:spcAft>
              <a:defRPr sz="1600"/>
            </a:pPr>
            <a:r>
              <a:t>Incremental revenue − incremental driver/operating costs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6. Net profit impact</a:t>
            </a:r>
          </a:p>
          <a:p>
            <a:pPr>
              <a:spcAft>
                <a:spcPts val="700"/>
              </a:spcAft>
              <a:defRPr sz="1600"/>
            </a:pPr>
            <a:r>
              <a:t>Incremental revenue − incremental variable costs − incentives − discounts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Therefore, the SQL analysis identifies the VALUE POOLS, while cost data is needed to calculate actual PROFIT.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Uber Should Do — Priority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1. Reduce Driver Cancellations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What to do: Investigate cancellation patterns by reason, vehicle, location and time; introduce targeted driver incentives and better availability planning.</a:t>
            </a:r>
          </a:p>
          <a:p>
            <a:pPr>
              <a:spcAft>
                <a:spcPts val="400"/>
              </a:spcAft>
              <a:defRPr sz="1400"/>
            </a:pPr>
            <a:r>
              <a:t>Why: 27,000 bookings (18%) were cancelled by drivers — the largest identified leakage.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243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2. Fix No-Driver-Found &amp; Peak-Hour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4436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What to do: Move/incentivize drivers into demand hotspots and strengthen supply from 5 PM–8 PM.</a:t>
            </a:r>
          </a:p>
          <a:p>
            <a:pPr>
              <a:spcAft>
                <a:spcPts val="400"/>
              </a:spcAft>
              <a:defRPr sz="1400"/>
            </a:pPr>
            <a:r>
              <a:t>Why: 10,500 bookings (7%) had no driver found, while 6 PM had 7,617 completed rides and reported cancellation/no-driver rates of about 18.2%/7.2%.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97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3. Turn First-Time Riders into Repeat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17136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What to do: Use second-ride discounts, ride credits, UPI rewards and loyalty offers.</a:t>
            </a:r>
          </a:p>
          <a:p>
            <a:pPr>
              <a:spcAft>
                <a:spcPts val="400"/>
              </a:spcAft>
              <a:defRPr sz="1400"/>
            </a:pPr>
            <a:r>
              <a:t>Why: First-time riders generate about 51.3% of completed revenue; converting them into repeat riders can increase customer lifetime value.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Business Benefit — Revenue &amp; Profit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1. Recover Lost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Why it matters: Recovering cancelled/no-driver bookings turns existing demand into completed rides.</a:t>
            </a:r>
          </a:p>
          <a:p>
            <a:pPr>
              <a:spcAft>
                <a:spcPts val="400"/>
              </a:spcAft>
              <a:defRPr sz="1400"/>
            </a:pPr>
            <a:r>
              <a:t>Potential benefit: Every recovered booking is worth about ₹508 in average completed booking value. Recovering 10% of driver cancellations could add ≈₹1.37M revenue; recovering 20% of no-driver bookings could add ≈₹1.07M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243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2. Improve Completion &amp;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4436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Why it matters: Only 62% of all bookings were completed. Reducing driver cancellations, no-driver-found bookings and incomplete rides can increase completed rides.</a:t>
            </a:r>
          </a:p>
          <a:p>
            <a:pPr>
              <a:spcAft>
                <a:spcPts val="400"/>
              </a:spcAft>
              <a:defRPr sz="1400"/>
            </a:pPr>
            <a:r>
              <a:t>Potential benefit: Higher completed rides and better peak-hour supply can increase revenue while using incentives only where they create incremental demand/supply.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97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3. Protect Actual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17136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Why it matters: Revenue is not the same as profit. Uber should measure driver payouts, incentives, discounts, fuel/maintenance and other variable costs before scaling each action.</a:t>
            </a:r>
          </a:p>
          <a:p>
            <a:pPr>
              <a:spcAft>
                <a:spcPts val="400"/>
              </a:spcAft>
              <a:defRPr sz="1400"/>
            </a:pPr>
            <a:r>
              <a:t>Profit formula: Incremental revenue − driver/operating costs − incentives − discounts.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