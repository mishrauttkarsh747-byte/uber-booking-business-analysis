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Uber Booking &amp; Revenue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SQL-driven insights into booking completion, revenue drivers, and operational leakage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7468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Completion Crisis: 62% Success Rate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61475" y="1926431"/>
            <a:ext cx="305139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150K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61475" y="2693690"/>
            <a:ext cx="305139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Bookings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3054350"/>
            <a:ext cx="305139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demand captured in the dataset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06839" y="1926431"/>
            <a:ext cx="305149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62%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3906839" y="2693690"/>
            <a:ext cx="305149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Completion Rate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3906839" y="3054350"/>
            <a:ext cx="305149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93,000 rides reached the destination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4157" y="3972917"/>
            <a:ext cx="305139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₹47.26M</a:t>
            </a:r>
            <a:endParaRPr lang="en-US" sz="4450" dirty="0"/>
          </a:p>
        </p:txBody>
      </p:sp>
      <p:sp>
        <p:nvSpPr>
          <p:cNvPr id="11" name="Text 8"/>
          <p:cNvSpPr/>
          <p:nvPr/>
        </p:nvSpPr>
        <p:spPr>
          <a:xfrm>
            <a:off x="2284157" y="4740176"/>
            <a:ext cx="305139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Completed Revenue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2284157" y="5100836"/>
            <a:ext cx="305139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₹30M+ potential revenue at risk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5536704"/>
            <a:ext cx="629686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 of all demand is lost to cancellations, no-driver-found events, and incomplete rides — a systemic operational gap demanding immediate executive attention.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Driver Cancellations: The Biggest Loss (18%)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27,000 cancellations — 18% of all bookings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cancellations are the single largest source of demand leakage. The four root causes are nearly equal in volume, suggesting a systemic rather than isolated problem.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876080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1D0C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16282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093369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Recovering just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driver cancellations =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₹1.37M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additional revenue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6083"/>
            <a:ext cx="3541822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 Driver Found: 7% Lost Demand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04206"/>
            <a:ext cx="3541822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10,500 bookings — 7% of total volume — resulted in no driver being assigned. This demand is concentrated in specific locations and peak hours, pointing to a supply distribution problem rather than an absolute shortage.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522663"/>
            <a:ext cx="3541822" cy="158948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Hyper-local supply gaps in high-demand zones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Peak-hour exposure compounds the problem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exists but goes completely unserved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5274866"/>
            <a:ext cx="3541822" cy="838994"/>
          </a:xfrm>
          <a:prstGeom prst="roundRect">
            <a:avLst>
              <a:gd name="adj" fmla="val 2957"/>
            </a:avLst>
          </a:prstGeom>
          <a:solidFill>
            <a:srgbClr val="1D0C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500291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5446316"/>
            <a:ext cx="283927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Recovering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no-driver-found events =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₹1.07M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additional revenue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60" y="1467346"/>
            <a:ext cx="6923410" cy="39233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989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Other Leakage: Customer Cancellations &amp; Incomplete Rides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59212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24822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Cancellations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656905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10,500 bookings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7% of total demand. Riders initiated but abandoned before pickup, indicating friction in wait time or driver ETA.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59212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324822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Incomplete Bookings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656905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9,000 bookings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6% of total demand. Rides that entered the system but never reached completion due to technical or operational failure.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59212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324822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Combined Impact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656905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19,500 bookings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13% of total demand lost from two secondary but significant leakage sources alongside driver issues.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1323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Peak-Hour Bottleneck: 6 PM Demand Surge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33360" y="2091928"/>
            <a:ext cx="2935909" cy="1049040"/>
          </a:xfrm>
          <a:prstGeom prst="roundRect">
            <a:avLst>
              <a:gd name="adj" fmla="val 2492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5407584" y="2266156"/>
            <a:ext cx="25874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7,617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07584" y="2698948"/>
            <a:ext cx="258746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rides at 6 PM peak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233360" y="3301603"/>
            <a:ext cx="2935909" cy="1316831"/>
          </a:xfrm>
          <a:prstGeom prst="roundRect">
            <a:avLst>
              <a:gd name="adj" fmla="val 1985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5407584" y="3475831"/>
            <a:ext cx="25874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18.2%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07584" y="3908623"/>
            <a:ext cx="258746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cancellation rate at peak hour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33360" y="4779070"/>
            <a:ext cx="2935909" cy="1316831"/>
          </a:xfrm>
          <a:prstGeom prst="roundRect">
            <a:avLst>
              <a:gd name="adj" fmla="val 1985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5407584" y="4953298"/>
            <a:ext cx="25874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7.2%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07584" y="5386090"/>
            <a:ext cx="258746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No-driver-found rate at peak hour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00661" y="2055812"/>
            <a:ext cx="2935909" cy="3358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6 PM window is Uber's highest-demand moment — and its most vulnerable. Cancellation and no-driver rates at peak mirror the platform-wide averages, confirming that supply fails to scale with demand at the most critical hour.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Opportunity: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Targeted driver incentives during the 5–7 PM window could meaningfully reduce leakage at peak.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08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Revenue by Vehicle Type: Auto Leads, Go Sedan Excels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848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64866"/>
            <a:ext cx="52037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 dominates volume; Go Sedan wins on efficiency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3044428"/>
            <a:ext cx="5203794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₹11.73M — 24.82% of total revenue across 23,155 rides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 Mini: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₹9.41M — strong volume-driven contribution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 Sedan: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₹19.71/km efficiency and ₹512 average booking value — highest per-ride yield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85874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Sedan's superior unit economics make it a candidate for targeted supply growth despite lower overall volume.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71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Segments: First-Time Riders Drive Revenue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54699" y="2579787"/>
            <a:ext cx="2106857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51%</a:t>
            </a:r>
            <a:endParaRPr lang="en-US" sz="3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525" y="1509216"/>
            <a:ext cx="2569404" cy="2569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76626"/>
            <a:ext cx="349360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First-Time Riders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4637286"/>
            <a:ext cx="349360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51.3% of completed revenue — new customers are the primary revenue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42270" y="2579787"/>
            <a:ext cx="2106857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37%</a:t>
            </a:r>
            <a:endParaRPr lang="en-US" sz="3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096" y="1509216"/>
            <a:ext cx="2569404" cy="2569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9046" y="4276626"/>
            <a:ext cx="349360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Regular Riders (3–5 rides)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349046" y="4637286"/>
            <a:ext cx="349360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36.6% of completed revenue from repeat customers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729841" y="2579787"/>
            <a:ext cx="2106857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12%</a:t>
            </a:r>
            <a:endParaRPr lang="en-US" sz="3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667" y="1509216"/>
            <a:ext cx="2569404" cy="2569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36617" y="4276626"/>
            <a:ext cx="349360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All Other Segments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036617" y="4637286"/>
            <a:ext cx="349360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Remaining share from power users and occasional riders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61475" y="5334397"/>
            <a:ext cx="10868745" cy="902891"/>
          </a:xfrm>
          <a:prstGeom prst="roundRect">
            <a:avLst>
              <a:gd name="adj" fmla="val 2846"/>
            </a:avLst>
          </a:prstGeom>
          <a:solidFill>
            <a:srgbClr val="4B3F0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22" y="5560219"/>
            <a:ext cx="214109" cy="1712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18078" y="5532338"/>
            <a:ext cx="1014089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reliance on new customer acquisition signals low repeat conversion — a long-term retention risk that undermines sustainable growth.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3961"/>
            <a:ext cx="5203794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Payment Method: UPI Dominates Volume, Cash Leads Value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5492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behavior reveals a strategic split: UPI commands the largest share of completed ride volume, while cash transactions yield higher average booking values.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932238"/>
            <a:ext cx="5203794" cy="97333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UPI: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41,834 bookings — 45% of all completed rides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Cash: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₹11.76M revenue — 24.87% of total, ranking second by value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5075634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UPI is the volume leader; cash is the value leader. Optimizing digital payment incentives could shift cash riders toward UPI while preserving revenue yield.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917575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Monthly Performance: March Peak, August Trough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4919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7% revenue gap between the March peak (₹4.17M) and August trough (₹3.87M) points to seasonal demand-supply misalignment. Proactive driver incentive programs ahead of the August dip could narrow this variance significantly.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3499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Priority Actions &amp; Business Impact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863427"/>
            <a:ext cx="6296860" cy="1290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70190" y="234533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110035" y="2056705"/>
            <a:ext cx="52269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Fix Driver Cancellations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110035" y="2425204"/>
            <a:ext cx="522691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targeted interventions for the four root causes. 10% recovery =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₹1.37M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incremental revenue.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14700"/>
            <a:ext cx="6296860" cy="12906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70190" y="3796605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6110035" y="3507978"/>
            <a:ext cx="52269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Close Supply Gaps at Peak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110035" y="3876477"/>
            <a:ext cx="522691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 driver availability in high-demand zones during the 5–7 PM window. 20% no-driver recovery =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₹1.07M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65973"/>
            <a:ext cx="6296860" cy="15584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0190" y="538182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6110035" y="4959251"/>
            <a:ext cx="52269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Build Repeat Rider Loyalty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110035" y="5327749"/>
            <a:ext cx="522691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dependence on first-time riders (currently 51.3% of revenue) by investing in retention programs to convert new riders into regulars. Combined leakage opportunity: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₹3.4M+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2026-08-19T18:00:34Z</dcterms:created>
  <dcterms:modified xsi:type="dcterms:W3CDTF">2026-08-19T18:00:34Z</dcterms:modified>
</cp:coreProperties>
</file>